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2D84E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HACKATHON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649224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EDF4EC"/>
                </a:solidFill>
                <a:latin typeface="Helvetica Neue"/>
              </a:rPr>
              <a:t>BEACONCALL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212848"/>
            <a:ext cx="4754880" cy="155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899188"/>
                </a:solidFill>
                <a:latin typeface="Helvetica Neue"/>
              </a:rPr>
              <a:t>CAMERA SIGHTING.
GUAVA BRIEFING.
HUMAN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5166360"/>
            <a:ext cx="3794760" cy="420624"/>
          </a:xfrm>
          <a:prstGeom prst="rect">
            <a:avLst/>
          </a:prstGeom>
          <a:solidFill>
            <a:srgbClr val="62D84E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5276088"/>
            <a:ext cx="35661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80B09"/>
                </a:solidFill>
                <a:latin typeface="Menlo"/>
              </a:rPr>
              <a:t>MAC NOW  /  UNITREE G1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658368"/>
            <a:ext cx="5074920" cy="544068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932688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Menlo"/>
              </a:rPr>
              <a:t>ROBOT CAMERA / PRESENCE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1444752"/>
            <a:ext cx="3063240" cy="3840480"/>
          </a:xfrm>
          <a:prstGeom prst="rect">
            <a:avLst/>
          </a:prstGeom>
          <a:solidFill>
            <a:srgbClr val="111713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43800" y="3364992"/>
            <a:ext cx="3063240" cy="0"/>
          </a:xfrm>
          <a:prstGeom prst="line">
            <a:avLst/>
          </a:prstGeom>
          <a:ln w="15240">
            <a:solidFill>
              <a:srgbClr val="62D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933688" y="1874519"/>
            <a:ext cx="310896" cy="310896"/>
          </a:xfrm>
          <a:prstGeom prst="ellipse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2221991"/>
            <a:ext cx="438912" cy="841248"/>
          </a:xfrm>
          <a:prstGeom prst="roundRect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05088" y="2276856"/>
            <a:ext cx="164592" cy="713232"/>
          </a:xfrm>
          <a:prstGeom prst="roundRect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08592" y="2276856"/>
            <a:ext cx="164592" cy="713232"/>
          </a:xfrm>
          <a:prstGeom prst="roundRect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87968" y="3017520"/>
            <a:ext cx="164592" cy="822960"/>
          </a:xfrm>
          <a:prstGeom prst="roundRect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25712" y="3017520"/>
            <a:ext cx="164592" cy="822960"/>
          </a:xfrm>
          <a:prstGeom prst="roundRect">
            <a:avLst/>
          </a:prstGeom>
          <a:solidFill>
            <a:srgbClr val="EDF4EC"/>
          </a:solidFill>
          <a:ln>
            <a:solidFill>
              <a:srgbClr val="ED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956048"/>
            <a:ext cx="2103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PERSON  91%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236208"/>
            <a:ext cx="10972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>
                <a:solidFill>
                  <a:srgbClr val="62D84E"/>
                </a:solidFill>
                <a:latin typeface="Helvetica Neue"/>
              </a:rPr>
              <a:t>guava.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943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WHY WE BUILT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99188"/>
                </a:solidFill>
                <a:latin typeface="Menl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30352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EDF4EC"/>
                </a:solidFill>
                <a:latin typeface="Helvetica Neue"/>
              </a:rPr>
              <a:t>A visual alert is
easy to miss.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960120"/>
            <a:ext cx="530352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62D84E"/>
                </a:solidFill>
                <a:latin typeface="Helvetica Neue"/>
              </a:rPr>
              <a:t>A conversation
gets a response.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542032"/>
            <a:ext cx="11000232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310896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2D84E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787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F4EC"/>
                </a:solidFill>
                <a:latin typeface="Helvetica Neue"/>
              </a:rPr>
              <a:t>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60520"/>
            <a:ext cx="29718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99188"/>
                </a:solidFill>
                <a:latin typeface="Helvetica Neue"/>
              </a:rPr>
              <a:t>Confirm a person across three frames.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310896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2D84E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354787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F4EC"/>
                </a:solidFill>
                <a:latin typeface="Helvetica Neue"/>
              </a:rPr>
              <a:t>SPEAK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4160520"/>
            <a:ext cx="29718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99188"/>
                </a:solidFill>
                <a:latin typeface="Helvetica Neue"/>
              </a:rPr>
              <a:t>Turn camera metadata into a clear briefing.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108960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2D84E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3547872"/>
            <a:ext cx="3108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F4EC"/>
                </a:solidFill>
                <a:latin typeface="Helvetica Neue"/>
              </a:rPr>
              <a:t>RESPOND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4160520"/>
            <a:ext cx="29718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99188"/>
                </a:solidFill>
                <a:latin typeface="Helvetica Neue"/>
              </a:rPr>
              <a:t>Record what the operator decides.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33872"/>
            <a:ext cx="7315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NO FALL ACTING. NO MEDICAL CLAIM. PRESENCE ONLY.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565392"/>
            <a:ext cx="7315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99188"/>
                </a:solidFill>
                <a:latin typeface="Menlo"/>
              </a:rPr>
              <a:t>BEACONCALL / GUAVA INBOUND VOICE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943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LIVE DEMO / 45–60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99188"/>
                </a:solidFill>
                <a:latin typeface="Menl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77724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EDF4EC"/>
                </a:solidFill>
                <a:latin typeface="Helvetica Neue"/>
              </a:rPr>
              <a:t>ONE PERSON. ONE CALL.
ONE CLEAR HANDOFF.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414016"/>
            <a:ext cx="2395728" cy="214884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596896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099816"/>
            <a:ext cx="19659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DF4EC"/>
                </a:solidFill>
                <a:latin typeface="Helvetica Neue"/>
              </a:rPr>
              <a:t>EMPTY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712463"/>
            <a:ext cx="1874519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99188"/>
                </a:solidFill>
                <a:latin typeface="Helvetica Neue"/>
              </a:rPr>
              <a:t>Show live camera scanning.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4" y="3282696"/>
            <a:ext cx="274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1" y="2414016"/>
            <a:ext cx="2395728" cy="214884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596896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99816"/>
            <a:ext cx="19659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DF4EC"/>
                </a:solidFill>
                <a:latin typeface="Helvetica Neue"/>
              </a:rPr>
              <a:t>WALK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12463"/>
            <a:ext cx="1874519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99188"/>
                </a:solidFill>
                <a:latin typeface="Helvetica Neue"/>
              </a:rPr>
              <a:t>Hold for three detections.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3282696"/>
            <a:ext cx="274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2414016"/>
            <a:ext cx="2395728" cy="2148840"/>
          </a:xfrm>
          <a:prstGeom prst="rect">
            <a:avLst/>
          </a:prstGeom>
          <a:solidFill>
            <a:srgbClr val="0D110E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596896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099816"/>
            <a:ext cx="19659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DF4EC"/>
                </a:solidFill>
                <a:latin typeface="Helvetica Neue"/>
              </a:rPr>
              <a:t>CALL GUAVA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712463"/>
            <a:ext cx="1874519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99188"/>
                </a:solidFill>
                <a:latin typeface="Helvetica Neue"/>
              </a:rPr>
              <a:t>Ask what the camera saw.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928" y="3282696"/>
            <a:ext cx="274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06256" y="2414016"/>
            <a:ext cx="2395728" cy="214884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2596896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099816"/>
            <a:ext cx="196596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EDF4EC"/>
                </a:solidFill>
                <a:latin typeface="Helvetica Neue"/>
              </a:rPr>
              <a:t>ACKNOWLEDGE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3712463"/>
            <a:ext cx="1874519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99188"/>
                </a:solidFill>
                <a:latin typeface="Helvetica Neue"/>
              </a:rPr>
              <a:t>Choose inspect or monitor.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6400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2D84E"/>
                </a:solidFill>
                <a:latin typeface="Menlo"/>
              </a:rPr>
              <a:t>ASK: “WHAT DID THE ROBOT CAMERA SEE?”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565392"/>
            <a:ext cx="7315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99188"/>
                </a:solidFill>
                <a:latin typeface="Menlo"/>
              </a:rPr>
              <a:t>BEACONCALL / GUAVA INBOUND 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943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99188"/>
                </a:solidFill>
                <a:latin typeface="Menl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594360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>
                <a:solidFill>
                  <a:srgbClr val="EDF4EC"/>
                </a:solidFill>
                <a:latin typeface="Helvetica Neue"/>
              </a:rPr>
              <a:t>CONTEXT MOVES.
THE BOUNDARY STAYS.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395728"/>
            <a:ext cx="1874519" cy="114300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660904"/>
            <a:ext cx="15727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F4EC"/>
                </a:solidFill>
                <a:latin typeface="Menlo"/>
              </a:rPr>
              <a:t>MAC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Helvetica Neue"/>
              </a:rPr>
              <a:t>G1 stream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024" y="2770632"/>
            <a:ext cx="3383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2395728"/>
            <a:ext cx="1874519" cy="114300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660904"/>
            <a:ext cx="15727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F4EC"/>
                </a:solidFill>
                <a:latin typeface="Menlo"/>
              </a:rPr>
              <a:t>COCO-SSD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63240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Helvetica Neue"/>
              </a:rPr>
              <a:t>person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770632"/>
            <a:ext cx="3383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9784" y="2395728"/>
            <a:ext cx="1874519" cy="114300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2660904"/>
            <a:ext cx="15727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F4EC"/>
                </a:solidFill>
                <a:latin typeface="Menlo"/>
              </a:rPr>
              <a:t>INCIDENT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3063240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Helvetica Neue"/>
              </a:rPr>
              <a:t>local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770632"/>
            <a:ext cx="3383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2395728"/>
            <a:ext cx="1874519" cy="1143000"/>
          </a:xfrm>
          <a:prstGeom prst="rect">
            <a:avLst/>
          </a:prstGeom>
          <a:solidFill>
            <a:srgbClr val="0D110E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660904"/>
            <a:ext cx="15727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2D84E"/>
                </a:solidFill>
                <a:latin typeface="Menlo"/>
              </a:rPr>
              <a:t>GUAVA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3063240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Helvetica Neue"/>
              </a:rPr>
              <a:t>inbound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70632"/>
            <a:ext cx="33832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62D84E"/>
                </a:solidFill>
                <a:latin typeface="Helvetica Neue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65208" y="2395728"/>
            <a:ext cx="1874519" cy="1143000"/>
          </a:xfrm>
          <a:prstGeom prst="rect">
            <a:avLst/>
          </a:prstGeom>
          <a:solidFill>
            <a:srgbClr val="0D110E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2660904"/>
            <a:ext cx="15727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F4EC"/>
                </a:solidFill>
                <a:latin typeface="Menlo"/>
              </a:rPr>
              <a:t>RESPONDER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0656" y="3063240"/>
            <a:ext cx="157276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99188"/>
                </a:solidFill>
                <a:latin typeface="Helvetica Neue"/>
              </a:rPr>
              <a:t>voice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187952"/>
            <a:ext cx="10991088" cy="1143000"/>
          </a:xfrm>
          <a:prstGeom prst="rect">
            <a:avLst/>
          </a:prstGeom>
          <a:solidFill>
            <a:srgbClr val="0A0E0B"/>
          </a:solidFill>
          <a:ln>
            <a:solidFill>
              <a:srgbClr val="29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2057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PRIVACY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425696"/>
            <a:ext cx="2377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DF4EC"/>
                </a:solidFill>
                <a:latin typeface="Helvetica Neue"/>
              </a:rPr>
              <a:t>IMAGE STAYS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407408"/>
            <a:ext cx="539496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99188"/>
                </a:solidFill>
                <a:latin typeface="Helvetica Neue"/>
              </a:rPr>
              <a:t>Guava receives only time, region, confidence, and the presence-only limitation.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33872"/>
            <a:ext cx="7772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2D84E"/>
                </a:solidFill>
                <a:latin typeface="Menlo"/>
              </a:rPr>
              <a:t>SWAP MAC CAMERA → G1 CAMERA. KEEP THE GUAVA EXPERT.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565392"/>
            <a:ext cx="7315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99188"/>
                </a:solidFill>
                <a:latin typeface="Menlo"/>
              </a:rPr>
              <a:t>BEACONCALL / GUAVA INBOUND 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5943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2D84E"/>
                </a:solidFill>
                <a:latin typeface="Menlo"/>
              </a:rPr>
              <a:t>SPONSOR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899188"/>
                </a:solidFill>
                <a:latin typeface="Menl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43891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62D84E"/>
                </a:solidFill>
                <a:latin typeface="Helvetica Neue"/>
              </a:rPr>
              <a:t>guava.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57607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EDF4EC"/>
                </a:solidFill>
                <a:latin typeface="Helvetica Neue"/>
              </a:rPr>
              <a:t>VOICE IS THE HANDOFF.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46634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99188"/>
                </a:solidFill>
                <a:latin typeface="Helvetica Neue"/>
              </a:rPr>
              <a:t>Not a logo. The live interaction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868680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2D84E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7728" y="850392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F4EC"/>
                </a:solidFill>
                <a:latin typeface="Menlo"/>
              </a:rPr>
              <a:t>DIALOG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7728" y="1252728"/>
            <a:ext cx="4160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99188"/>
                </a:solidFill>
                <a:latin typeface="Helvetica Neue"/>
              </a:rPr>
              <a:t>Audio · speech recognition · conversation · voice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67728" y="1728216"/>
            <a:ext cx="4443984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19088" y="2002536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2D84E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984248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F4EC"/>
                </a:solidFill>
                <a:latin typeface="Menlo"/>
              </a:rPr>
              <a:t>LOCAL 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386584"/>
            <a:ext cx="4160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99188"/>
                </a:solidFill>
                <a:latin typeface="Helvetica Neue"/>
              </a:rPr>
              <a:t>Loads the newest verified camera sighting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67728" y="2862072"/>
            <a:ext cx="4443984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9088" y="3136391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2D84E"/>
                </a:solidFill>
                <a:latin typeface="Menl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3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F4EC"/>
                </a:solidFill>
                <a:latin typeface="Menlo"/>
              </a:rPr>
              <a:t>STRUCTURED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520439"/>
            <a:ext cx="4160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99188"/>
                </a:solidFill>
                <a:latin typeface="Helvetica Neue"/>
              </a:rPr>
              <a:t>Briefs, asks, constrains, and records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3995927"/>
            <a:ext cx="4443984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9088" y="4270248"/>
            <a:ext cx="3200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2D84E"/>
                </a:solidFill>
                <a:latin typeface="Menl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4251960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DF4EC"/>
                </a:solidFill>
                <a:latin typeface="Menlo"/>
              </a:rPr>
              <a:t>INBOUND 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654296"/>
            <a:ext cx="41605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99188"/>
                </a:solidFill>
                <a:latin typeface="Helvetica Neue"/>
              </a:rPr>
              <a:t>Works from a Mac without a public webhook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983480"/>
            <a:ext cx="5074920" cy="612648"/>
          </a:xfrm>
          <a:prstGeom prst="rect">
            <a:avLst/>
          </a:prstGeom>
          <a:solidFill>
            <a:srgbClr val="62D84E"/>
          </a:solidFill>
          <a:ln>
            <a:solidFill>
              <a:srgbClr val="62D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184648"/>
            <a:ext cx="470001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80B09"/>
                </a:solidFill>
                <a:latin typeface="Menlo"/>
              </a:rPr>
              <a:t>PROOF: LIVE CALL + GUAVA CONVERSATIONS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5897880"/>
            <a:ext cx="4480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899188"/>
                </a:solidFill>
                <a:latin typeface="Menlo"/>
              </a:rPr>
              <a:t>goguava.ai/docs/inbound-form-filling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92240"/>
            <a:ext cx="11000232" cy="0"/>
          </a:xfrm>
          <a:prstGeom prst="line">
            <a:avLst/>
          </a:prstGeom>
          <a:ln w="12700">
            <a:solidFill>
              <a:srgbClr val="293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6565392"/>
            <a:ext cx="73152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99188"/>
                </a:solidFill>
                <a:latin typeface="Menlo"/>
              </a:rPr>
              <a:t>BEACONCALL / BUILT AROUND GUAVA INBOUND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